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Motivar a necessidade de persistência antes de qualquer código JDBC.
EXPLICAÇÃO ORAL (60-90s): Comece perguntando o que acontece com uma lista Java quando o programa termina: nada resta. Contraste com um INSERT, que grava uma linha em faculdade.db e sobrevive ao encerramento da JVM. Essa distinção — memória volátil versus armazenamento persistente — é a base de toda a disciplina.
ERRO COMUM: Achar que 'salvar em uma variável' já é persistir os dados.
PERGUNTA PARA A TURMA: O que deve sobreviver ao fechamento da aplicação?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Conectar o vocabulário relacional (tabela, linha, coluna, chaves) à representação equivalente em Java.
EXPLICAÇÃO ORAL (60-90s): Explique que a tabela aluno e o record Aluno descrevem os mesmos dados em dois vocabulários diferentes. id é a chave primária; NOT NULL e UNIQUE são restrições que o banco garante independentemente do código Java.
ERRO COMUM: Confundir chave primária com 'o primeiro campo da tabela' em vez de identidade única da linha.
PERGUNTA PARA A TURMA: O que garante que dois alunos nunca terão o mesmo e-mail?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Situar JDBC e JPA como duas camadas do mesmo problema, não tecnologias concorrentes.
EXPLICAÇÃO ORAL (60-90s): Mostre que o mesmo find por id leva 4 linhas em JDBC (SQL explícito, bind, execução, leitura do ResultSet) e 1 linha em JPA. Deixe claro que o Hibernate, por baixo, executa exatamente esse SQL usando JDBC.
ERRO COMUM: Achar que JPA elimina o SQL; ele apenas o gera automaticamente.
PERGUNTA PARA A TURMA: Se o Hibernate usa JDBC por baixo, por que ainda vale a pena aprender JDBC primeiro?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a anatomia da URL JDBC como ponto de partida de qualquer conexão.
EXPLICAÇÃO ORAL (60-90s): Decomponha a string jdbc:sqlite:faculdade.db em três partes: protocolo, driver e localização do arquivo. Reforce que java.sql é padrão do JDK, mas o driver SQLite precisa ser adicionado como dependência.
ERRO COMUM: Esquecer de adicionar a dependência do driver SQLite e supor que java.sql sozinho basta.
PERGUNTA PARA A TURMA: O que mudaria na URL se o banco fosse PostgreSQL em vez de SQLite?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como o DriverManager localiza o driver certo sem registro manual.
EXPLICAÇÃO ORAL (60-90s): Explique o fluxo Aplicação → DriverManager → Driver SQLite → faculdade.db. Enfatize que Java moderno descobre o driver via Service Provider (META-INF/services), então Class.forName() é desnecessário e não deve ser usado.
ERRO COMUM: Copiar exemplos antigos que chamam Class.forName('org.sqlite.JDBC') antes de conectar.
PERGUNTA PARA A TURMA: Como o DriverManager sabe qual driver usar sem você indicá-lo explicitamente?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Diferenciar a sessão (Connection) do armazenamento (arquivo do banco).
EXPLICAÇÃO ORAL (60-90s): Peça aos alunos para imaginar a Connection como uma ligação telefônica com o banco: ela pode ser encerrada sem que o banco deixe de existir. getMetaData() mostra informações sobre o driver em uso.
ERRO COMUM: Achar que fechar a Connection apaga os dados do banco.
PERGUNTA PARA A TURMA: O que continua existindo depois que a Connection é fechada?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Consolidar try-with-resources como padrão obrigatório para Connection, PreparedStatement e ResultSet.
EXPLICAÇÃO ORAL (60-90s): Percorra os dois caminhos possíveis: sucesso e exceção. Em ambos, o close() é chamado automaticamente antes de sair do bloco, mesmo que o catch trate o erro depois.
ERRO COMUM: Fechar recursos manualmente em blocos finally, esquecendo algum deles em caminhos de erro.
PERGUNTA PARA A TURMA: O que aconteceria com a conexão se uma exceção fosse lançada e não usássemos try-with-resources?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diagnóstico proativo de falhas de conexão antes de executar qualquer SQL.
EXPLICAÇÃO ORAL (60-90s): Alerte que o SQLite, ao contrário de outros bancos, pode criar um arquivo vazio silenciosamente se o caminho estiver errado — mascarando o erro real. A validação com Files.isRegularFile evita esse comportamento traiçoeiro.
ERRO COMUM: Assumir que 'a aplicação rodou sem erro' significa que se conectou ao banco correto.
PERGUNTA PARA A TURMA: Por que um arquivo vazio criado por engano pode ser pior do que um erro explícito?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Estabelecer PreparedStatement como padrão obrigatório em vez de concatenação de SQL.
EXPLICAÇÃO ORAL (60-90s): Compare as duas versões lado a lado: na primeira, o valor do usuário se mistura ao comando; na segunda, o SQL é fixo e o valor é vinculado separadamente pelo driver. Não é preciso detalhar ataques, apenas o princípio de separação entre comando e dado.
ERRO COMUM: Concatenar strings 'só para testes rápidos' e deixar esse hábito virar prática permanente.
PERGUNTA PARA A TURMA: Por que separar o comando SQL do valor do usuário resolve o problema, e não apenas 'escapar aspas'?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Fixar o ciclo preparar → vincular → executar → ler como sequência universal do JDBC.
EXPLICAÇÃO ORAL (60-90s): Percorra as quatro etapas numeradas, relacionando cada uma a uma linha do código. Reforce que PreparedStatement e ResultSet também precisam de try-with-resources aninhado.
ERRO COMUM: Esquecer de vincular algum marcador '?' antes de executar, causando SQLException.
PERGUNTA PARA A TURMA: O que aconteceria se chamássemos executeQuery() antes de setLong(1, 10L)?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Associar cada setter tipado à coluna correspondente e justificar o uso de BigDecimal para dinheiro.
EXPLICAÇÃO ORAL (60-90s): Alinhe visualmente os três marcadores '?' às três colunas. Explique por que mensalidade usa BigDecimal em vez de double: valores monetários exigem precisão exata.
ERRO COMUM: Usar double para valores monetários e sofrer com erros de arredondamento.
PERGUNTA PARA A TURMA: Por que setBigDecimal é preferível a setDouble para mensalidade?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Separar claramente 'executar a consulta' de 'ler o resultado'.
EXPLICAÇÃO ORAL (60-90s): Mostre que executeQuery() por si só não devolve dados prontos: é preciso chamar rs.next() para mover o cursor até a primeira linha antes de qualquer getString.
ERRO COMUM: Chamar rs.getString() sem antes checar ou avançar com next(), gerando exceção.
PERGUNTA PARA A TURMA: O que aparece no console se o id 10 não existir na tabela aluno?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os curingas do LIKE mantendo a separação entre comando e valor.
EXPLICAÇÃO ORAL (60-90s): Reforce que os símbolos % ficam dentro do valor vinculado, não no texto SQL. Compare os três padrões: prefixo, sufixo e contém.
ERRO COMUM: Concatenar '%' + nome + '%' diretamente no SQL em vez de incluí-lo no parâmetro vinculado.
PERGUNTA PARA A TURMA: Qual padrão LIKE encontraria alunos cujo nome termina com 'Souza'?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como obter a chave gerada automaticamente após um INSERT.
EXPLICAÇÃO ORAL (60-90s): Explique RETURN_GENERATED_KEYS como sinalização ao driver de que queremos recuperar o ID depois da inserção. getGeneratedKeys() devolve outro ResultSet, que também precisa de try-with-resources.
ERRO COMUM: Esquecer RETURN_GENERATED_KEYS ao preparar o statement e depois tentar chamar getGeneratedKeys() sem sucesso.
PERGUNTA PARA A TURMA: Por que o ID do aluno não existe antes de executeUpdate() ser chamado?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Consolidar o modelo mental de ResultSet como cursor sequencial, não coleção materializada.
EXPLICAÇÃO ORAL (60-90s): Desenhe os três estados do cursor: antes da primeira linha, em uma linha válida, e no fim. next() é o único jeito de mover o cursor entre eles.
ERRO COMUM: Tratar ResultSet como se já fosse uma List&lt;Aluno&gt; pronta para uso.
PERGUNTA PARA A TURMA: Em que estado o cursor começa, antes de qualquer chamada a next()?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Diferenciar quando usar if e quando usar while ao ler um ResultSet.
EXPLICAÇÃO ORAL (60-90s): Use uma tabela mental de três alunos: com if, só o primeiro é lido; com while, todos são percorridos até next() devolver false.
ERRO COMUM: Usar if em uma consulta de listagem e perder silenciosamente as demais linhas.
PERGUNTA PARA A TURMA: Uma busca por e-mail único deveria usar if ou while? Por quê?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a correspondência entre tipos SQL e tipos Java e o cuidado com NULL.
EXPLICAÇÃO ORAL (60-90s): Percorra cada getter e sua coluna. Destaque o alerta sobre NULL: getLong nunca devolve null, apenas 0 — para distinguir de um valor real, é preciso usar wasNull().
ERRO COMUM: Interpretar 0 retornado por getLong como um valor real, quando na verdade a coluna era NULL.
PERGUNTA PARA A TURMA: Como saber se uma coluna NUMERIC era realmente NULL, e não apenas 0.00?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Apresentar record como representação de linha imutável no mundo JDBC puro.
EXPLICAÇÃO ORAL (60-90s): Mostre que o compilador gera automaticamente construtor, acessores, equals, hashCode e toString a partir dos componentes. Adiante que entidades JPA não poderão ser records — isso será explicado mais à frente.
ERRO COMUM: Tentar usar record como entidade JPA mais adiante no curso.
PERGUNTA PARA A TURMA: Por que aluno.nome() não usa o prefixo 'get' como em um getter tradicional?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Introduzir o padrão Mapper como responsabilidade única de conversão linha → objeto.
EXPLICAÇÃO ORAL (60-90s): Explique o fluxo 'linha atual → AlunoMapper → Aluno'. O mapper pressupõe que alguém já chamou next(); ele só converte, não navega o cursor.
ERRO COMUM: Colocar lógica de conexão ou execução de SQL dentro do mapper, misturando responsabilidades.
PERGUNTA PARA A TURMA: O que aconteceria se chamássemos mapear() antes de rs.next()?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Optional e List como formas explícitas de comunicar cardinalidade de retorno.
EXPLICAÇÃO ORAL (60-90s): Compare buscarPorId, que devolve Optional para expressar 'zero ou um', com listar, que devolve List para 'zero ou muitos'. Em nenhum caso o método deve devolver null.
ERRO COMUM: Retornar null em vez de Optional.empty() ou de uma lista vazia.
PERGUNTA PARA A TURMA: Por que retornar null em vez de Optional.empty() é considerado uma prática ruim?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Apresentar CRUD como vocabulário de intenções, separado dos detalhes de SQL.
EXPLICAÇÃO ORAL (60-90s): Percorra os quatro verbos e seus comandos SQL correspondentes. Destaque que a interface RepositorioAluno não vaza nenhum detalhe de JDBC para quem a utiliza.
ERRO COMUM: Expor Connection ou ResultSet na assinatura de métodos de um repositório.
PERGUNTA PARA A TURMA: Por que a interface não deveria receber ou devolver um objeto Connection?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Consolidar o padrão DAO como fronteira entre aplicação e detalhes de persistência.
EXPLICAÇÃO ORAL (60-90s): Mostre o fluxo Aplicação → AlunoDAO → JDBC → SQLite. A aplicação chama dao.buscarPorId(10L) sem saber nada sobre URL, SQL ou cursor.
ERRO COMUM: Colocar regras de negócio dentro do DAO, misturando persistência com lógica de domínio.
PERGUNTA PARA A TURMA: O que a aplicação precisaria saber sobre o banco se não existisse o DAO?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Introduzir o princípio de injeção de dependência por construtor sem entrar em frameworks.
EXPLICAÇÃO ORAL (60-90s): Compare as duas versões: na primeira, a ConnectionFactory nasce escondida dentro do construtor; na segunda, ela é recebida de fora, tornando a dependência visível e substituível em testes.
ERRO COMUM: Criar dependências internamente com 'new' e depois reclamar que a classe é difícil de testar.
PERGUNTA PARA A TURMA: Como a segunda versão facilitaria testar o DAO com outro banco?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a implementação real do método Create dentro de um DAO.
EXPLICAÇÃO ORAL (60-90s): Percorra a sequência 'novo → INSERT → persistido': o método recebe nome e email, sem ID; o banco gera a chave; o DAO monta o Aluno completo com o ID retornado.
ERRO COMUM: Esquecer de fechar o ResultSet das chaves geradas, deixando-o fora do try-with-resources.
PERGUNTA PARA A TURMA: O que o método faz se getGeneratedKeys() não retornar nenhuma linha?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como assinaturas de métodos comunicam cardinalidade no padrão Read do DAO.
EXPLICAÇÃO ORAL (60-90s): Compare buscarPorId (Optional) com listarAtivos (List). Explique que buscarUm e buscarLista são helpers internos que concentram o código JDBC repetido, mantendo os métodos públicos limpos.
ERRO COMUM: Devolver um ResultSet aberto para fora do DAO, vazando um recurso que deveria ser fechado internamente.
PERGUNTA PARA A TURMA: Por que os métodos públicos não retornam ResultSet diretamente?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a interpretar o retorno numérico de executeUpdate em UPDATE e DELETE.
EXPLICAÇÃO ORAL (60-90s): Mostre a bifurcação: 1 linha afetada significa sucesso; 0 linhas normalmente significa que o ID não existe, o que é um resultado de negócio válido, não um erro técnico.
ERRO COMUM: Tratar 'zero linhas afetadas' como se fosse sempre uma exceção ou falha do sistema.
PERGUNTA PARA A TURMA: Zero linhas afetadas em um UPDATE por ID é sempre um erro? Por quê?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Expor o problema de consistência quando várias operações não são tratadas como uma unidade.
EXPLICAÇÃO ORAL (60-90s): Percorra a sequência: matrícula inserida com sucesso, mas a redução de vagas falha. O resultado é um estado inconsistente — matrícula registrada sem vaga reservada.
ERRO COMUM: Executar operações relacionadas em comandos JDBC independentes, sem controle transacional.
PERGUNTA PARA A TURMA: Que outro problema de negócio, além de matrícula, exigiria várias operações consistentes?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Apresentar o conceito de atomicidade transacional com commit e rollback.
EXPLICAÇÃO ORAL (60-90s): Explique os dois caminhos que saem do bloco try: sucesso, com commit; e falha, com rollback. As duas operações — matrícula e redução de vaga — são tratadas como uma única unidade.
ERRO COMUM: Chamar commit() antes de garantir que todas as operações da unidade foram concluídas com sucesso.
PERGUNTA PARA A TURMA: O que acontece com a matrícula já inserida se reduzirVagas lançar uma exceção?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Explicar o papel do autoCommit e a importância de restaurá-lo após a unidade de trabalho.
EXPLICAÇÃO ORAL (60-90s): Percorra a linha do tempo: antes, durante e depois de desligar o autoCommit. Enfatize que 'desligar autoCommit' e 'executar commit' são ações distintas: uma inicia o controle manual, a outra encerra a transação.
ERRO COMUM: Deixar autoCommit desligado após a unidade de trabalho, afetando conexões reutilizadas por um pool.
PERGUNTA PARA A TURMA: Por que é importante restaurar o valor original de autoCommit ao final do método?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Reforçar que a fronteira da transação é delimitada por uma única Connection compartilhada.
EXPLICAÇÃO ORAL (60-90s): Mostre o contorno visual envolvendo os dois comandos dentro da mesma Connection. Alerte, sem mostrar código extra, que um método que chama DriverManager.getConnection() de novo criaria uma segunda transação isolada.
ERRO COMUM: Um método auxiliar abrir sua própria Connection em vez de reutilizar a recebida por parâmetro.
PERGUNTA PARA A TURMA: O que aconteceria se diminuirVaga abrisse sua própria Connection em vez de receber a de matricular?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a sequência completa de uma transação de matrícula, do início ao commit.
EXPLICAÇÃO ORAL (60-90s): Percorra os passos numerados: consultar vagas, validar, inserir matrícula, diminuir vaga, e só então commit. Destaque que imprimir sucesso antes do commit seria uma afirmação prematura.
ERRO COMUM: Informar sucesso ao usuário antes de confirmar a transação com commit.
PERGUNTA PARA A TURMA: Por que a validação de vagas precisa acontecer antes do INSERT da matrícula?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o padrão completo de rollback com relançamento de exceção e restauração de estado.
EXPLICAÇÃO ORAL (60-90s): Divida o slide em 'recuperar estado' (rollback) e 'comunicar falha' (throw e). O finally garante que autoCommit volte a true independentemente do resultado.
ERRO COMUM: Capturar a exceção, chamar rollback e não relançá-la, escondendo a falha do chamador.
PERGUNTA PARA A TURMA: O que aconteceria se o catch fizesse rollback mas não relançasse a exceção?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Apresentar savepoint como mecanismo de rollback parcial dentro de uma transação.
EXPLICAÇÃO ORAL (60-90s): Mostre a linha do tempo com o savepoint marcado entre o cabeçalho e os itens. Se registrarItens falhar, apenas os itens são desfeitos; o cabeçalho permanece.
ERRO COMUM: Usar savepoints em toda transação por hábito, aumentando a complexidade sem necessidade real de negócio.
PERGUNTA PARA A TURMA: Em que situação um rollback parcial faz mais sentido do que desfazer a transação inteira?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Abrir a seção JPA explicando o conceito de mapeamento objeto-relacional.
EXPLICAÇÃO ORAL (60-90s): Trace a correspondência: classe Aluno vira tabela aluno; atributo id vira coluna id; atributo nome vira coluna nome. Deixe claro que o SQL não desaparece — apenas passa a ser gerado pelo provedor.
ERRO COMUM: Achar que ORM elimina a necessidade de entender o modelo relacional subjacente.
PERGUNTA PARA A TURMA: O SQL deixa de existir quando usamos JPA, ou apenas muda quem o escreve?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Diferenciar a especificação JPA do provedor concreto Hibernate.
EXPLICAÇÃO ORAL (60-90s): Mostre o fluxo Aplicação → API JPA → Hibernate → JDBC/SQLite. A aplicação programa contra jakarta.persistence; Hibernate é apenas o provedor escolhido na configuração.
ERRO COMUM: Confundir os pacotes javax.persistence (antigo) com jakarta.persistence (atual).
PERGUNTA PARA A TURMA: Se trocássemos Hibernate por outro provedor JPA, o que mudaria no código da aplicação?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que a pilha Aplicação → EntityManager → Hibernate → JDBC → SQLite continua existindo por baixo do JPA.
EXPLICAÇÃO ORAL (60-90s): Percorra as três propriedades: driver, url e dialect. Diferencie driver (comunicação JDBC) de dialeto (geração de SQL específico do banco).
ERRO COMUM: Configurar apenas o driver e a URL, esquecendo o dialeto, causando SQL incompatível com o SQLite.
PERGUNTA PARA A TURMA: Qual é a diferença entre o papel do driver e o papel do dialeto?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Explicar a estrutura do persistence.xml e o significado de RESOURCE_LOCAL.
EXPLICAÇÃO ORAL (60-90s): Aponte para name, transaction-type, class e properties. Explique que RESOURCE_LOCAL é o modo apropriado para Java SE, onde a própria aplicação controla begin/commit/rollback.
ERRO COMUM: Deixar schema-generation.database.action com valor diferente de 'none' e o provedor tentar recriar o esquema já existente.
PERGUNTA PARA A TURMA: O que aconteceria com a tabela aluno se schema-generation.database.action não fosse 'none'?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os elementos mínimos de uma entidade JPA: @Entity, @Id e construtor sem argumentos.
EXPLICAÇÃO ORAL (60-90s): Explique por que id é Long, não long: permite representar 'ainda sem identidade' como null. IDENTITY delega ao banco a geração do valor. O construtor protegido é exigido pelo provedor para criar instâncias via reflexão.
ERRO COMUM: Declarar o id como tipo primitivo long, impedindo representar uma entidade ainda não persistida.
PERGUNTA PARA A TURMA: Por que o atributo id usa o tipo Long e não long?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Detalhar o uso de @Column para nome, nulidade e unicidade.
EXPLICAÇÃO ORAL (60-90s): Percorra os três atributos e suas colunas resultantes. Alerte que, com geração de esquema desativada, a anotação é documentação — a restrição real precisa já existir no banco.
ERRO COMUM: Confiar apenas na anotação @Column(nullable=false) sem verificar se a coluna do banco realmente tem essa restrição.
PERGUNTA PARA A TURMA: Se o esquema já existe e a geração está desativada, para que serve nullable=false na anotação?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Diferenciar os ciclos de vida de EntityManagerFactory e EntityManager.
EXPLICAÇÃO ORAL (60-90s): Desenhe uma fábrica grande no topo originando vários EntityManagers menores. A factory é criada uma vez e compartilhada; cada EntityManager vive apenas durante uma unidade de trabalho.
ERRO COMUM: Criar uma nova EntityManagerFactory a cada operação, desperdiçando recursos caros de inicialização.
PERGUNTA PARA A TURMA: Por que criar uma EntityManagerFactory por requisição seria um desperdício de recursos?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Apresentar os quatro estados do ciclo de vida de uma entidade JPA.
EXPLICAÇÃO ORAL (60-90s): Percorra os quatro estados em sequência: novo, gerenciado, destacado e removido. Reforce que o estado não é um campo do objeto — é uma relação com o EntityManager, verificável via em.contains().
ERRO COMUM: Achar que 'gerenciado' é uma propriedade fixa da classe, e não uma relação dinâmica com o contexto.
PERGUNTA PARA A TURMA: O que aluno.getId() retorna antes de qualquer chamada a persist?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a transição de entidade transiente para gerenciada por meio de persist.
EXPLICAÇÃO ORAL (60-90s): Percorra a transição 'Novo → Gerenciado'. O id só recebe valor real depois do commit, quando o INSERT é de fato executado no banco.
ERRO COMUM: Ler aluno.getId() logo após persist(), antes do commit, esperando já ver o valor gerado pelo banco.
PERGUNTA PARA A TURMA: Em que momento exato o ID do aluno passa a ter um valor real?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o padrão seguro de escrita com EntityTransaction em Java SE.
EXPLICAÇÃO ORAL (60-90s): Percorra begin, commit e o catch com isActive antes de rollback. Explique que ignorar a exceção depois de capturá-la esconderia o motivo real da falha do time.
ERRO COMUM: Chamar tx.rollback() sem checar tx.isActive(), lançando uma segunda exceção sobre uma transação já finalizada.
PERGUNTA PARA A TURMA: Por que verificamos tx.isActive() antes de chamar rollback()?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Explicar o contexto de persistência como mapa de identidades.
EXPLICAÇÃO ORAL (60-90s): Mostre que duas chamadas a find com o mesmo id devolvem exatamente a mesma instância (==). Deixe claro que essa garantia vale para find no mesmo EntityManager, não para toda consulta JPQL.
ERRO COMUM: Generalizar a garantia do mapa de identidades para qualquer tipo de consulta, inclusive fora do mesmo contexto.
PERGUNTA PARA A TURMA: Por que primeiro == segundo é true, e não apenas primeiro.equals(segundo)?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o efeito de clear() sobre o estado gerenciado das entidades.
EXPLICAÇÃO ORAL (60-90s): Percorra a saída true/false, mostrando que clear() desassocia o objeto do contexto sem apagar nada do banco. A alteração de e-mail feita depois não gera UPDATE, pois o objeto está destacado.
ERRO COMUM: Alterar uma entidade destacada esperando que o dirty checking gere um UPDATE automaticamente.
PERGUNTA PARA A TURMA: Por que a alteração de e-mail depois do clear() não é salva no banco?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Explicar dirty checking como o mecanismo por trás de atualizações automáticas via setter.
EXPLICAÇÃO ORAL (60-90s): Siga a sequência: find → alterar objeto → commit → UPDATE. Enfatize que não existe método update() na API JPA — é a comparação de estado que gera o SQL.
ERRO COMUM: Procurar por um método em.update(aluno) que não existe na API JPA.
PERGUNTA PARA A TURMA: Que dois requisitos precisam ser verdadeiros para o dirty checking gerar o UPDATE?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o fluxo correto de remoção: find seguido de remove dentro da mesma transação.
EXPLICAÇÃO ORAL (60-90s): Percorra a transição 'Gerenciado → Removido → DELETE'. Reforce que a entidade precisa ser buscada dentro da mesma unidade de trabalho para estar gerenciada antes do remove.
ERRO COMUM: Chamar em.remove() sobre uma entidade destacada, obtida em um contexto diferente.
PERGUNTA PARA A TURMA: O que um novo find pelo mesmo ID deveria devolver depois do commit deste remove?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a evolução de um atributo cru de chave estrangeira para uma associação de objetos.
EXPLICAÇÃO ORAL (60-90s): Compare o atributo cursoId, que exige buscar o Curso manualmente, com a associação @ManyToOne, que permite navegar diretamente para o objeto Curso. A coluna curso_id continua existindo no banco.
ERRO COMUM: Achar que a coluna curso_id deixa de existir quando se usa @ManyToOne.
PERGUNTA PARA A TURMA: A coluna curso_id desaparece do banco quando usamos @ManyToOne? Por quê?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Introduzir cardinalidade como conceito de domínio antes das anotações @ManyToOne/@OneToMany.
EXPLICAÇÃO ORAL (60-90s): Desenhe Curso 1 —— N Matricula. Explique que os dois atributos, curso em Matricula e matriculas em Curso, representam a mesma relação vista de dois ângulos.
ERRO COMUM: Confundir cardinalidade com o tamanho atual de uma coleção específica em tempo de execução.
PERGUNTA PARA A TURMA: Curso.matriculas e Matricula.curso descrevem relações diferentes ou a mesma relação?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Detalhar @ManyToOne e @JoinColumn como o lado dono da relação.
EXPLICAÇÃO ORAL (60-90s): Percorra três callouts: muitos-para-um, lazy e chave estrangeira. Diferencie optional=false (camada Java) de nullable=false (camada do banco) — são restrições complementares, não redundantes.
ERRO COMUM: Achar que optional e nullable são a mesma restrição, apenas duplicada em dois lugares.
PERGUNTA PARA A TURMA: Por que Matricula é considerada o lado dono da relação com Curso?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mappedBy como referência ao atributo Java do lado dono, não à coluna do banco.
EXPLICAÇÃO ORAL (60-90s): Mostre a seta 'Curso.matriculas ← Matricula.curso'. Repita, com ênfase, que mappedBy recebe o nome do atributo Java curso, e não o nome da coluna curso_id.
ERRO COMUM: Escrever mappedBy = "curso_id" em vez de mappedBy = "curso", confundindo atributo com coluna.
PERGUNTA PARA A TURMA: O valor de mappedBy se refere a um nome de coluna ou a um nome de atributo Java?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Consolidar a distinção entre lado dono e lado inverso de uma associação bidirecional.
EXPLICAÇÃO ORAL (60-90s): Compare @JoinColumn, que controla a FK, com mappedBy, que apenas declara onde essa FK é controlada. Deixe claro que 'dono' é sobre responsabilidade de persistência, não hierarquia de importância.
ERRO COMUM: Achar que o lado 'Um' da relação (Curso) é sempre o lado dono.
PERGUNTA PARA A TURMA: 'Lado dono' significa que o objeto é mais importante no domínio? Por quê não?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quando exatamente uma associação lazy dispara sua consulta ao banco.
EXPLICAÇÃO ORAL (60-90s): Percorra a linha do tempo: find → associação não carregada → size() → SELECT → carregada. isLoaded confirma que o carregamento só ocorre no primeiro uso real da coleção.
ERRO COMUM: Achar que curso.getMatriculas() já dispara o SELECT, quando na verdade é o uso da coleção que o dispara.
PERGUNTA PARA A TURMA: O simples retorno de curso.getMatriculas() já executa o SELECT, ou é preciso usar a coleção?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Alertar sobre o acesso a coleções lazy fora do contexto de persistência.
EXPLICAÇÃO ORAL (60-90s): Compare as duas versões: na incorreta, o EntityManager já fechou quando a coleção é acessada; na correta, o acesso acontece dentro do try-with-resources, com o contexto ainda aberto.
ERRO COMUM: Acessar uma coleção lazy depois que o EntityManager que a gerenciava já foi fechado.
PERGUNTA PARA A TURMA: Por que o acesso à coleção precisa acontecer antes do EntityManager fechar?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Consolidar o papel do service como coordenador da unidade de trabalho JPA.
EXPLICAÇÃO ORAL (60-90s): Percorra as três responsabilidades: Service coordena a fronteira transacional, Entidades validam seu próprio estado, e JPA persiste. Este método reúne EntityManager, EntityTransaction e a lógica de negócio em um único lugar coeso.
ERRO COMUM: Espalhar a abertura e o fechamento do EntityManager por várias camadas em vez de concentrá-los no service.
PERGUNTA PARA A TURMA: Por que abrir o EntityManager e a transação dentro do mesmo método facilita garantir consistência?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Matricula como entidade de primeira classe, não apenas uma junção técnica.
EXPLICAÇÃO ORAL (60-90s): Desenhe Aluno 1—N Matricula N—1 Curso. Explique que, por ter dataHora e poder ganhar novos atributos, Matricula merece ser uma entidade própria, e não uma simples tabela associativa oculta.
ERRO COMUM: Modelar o relacionamento aluno-curso como uma associação @ManyToMany simples, perdendo o lugar para dataHora e futuros atributos.
PERGUNTA PARA A TURMA: Por que Matricula não deveria ser modelada apenas como uma associação @ManyToMany entre Aluno e Curso?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Explicar cascade como propagação seletiva de operações de persistência.
EXPLICAÇÃO ORAL (60-90s): Mostre a seta 'PERSIST' saindo de Aluno em direção a Matricula. Curso já estava gerenciado e não é afetado. Alerte contra usar CascadeType.ALL por hábito, sem avaliar o ciclo de vida real das entidades.
ERRO COMUM: Usar CascadeType.ALL indiscriminadamente, causando remoções em cascata não intencionais.
PERGUNTA PARA A TURMA: Por que Curso não é inserido novamente quando persistimos o novo Aluno?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Ensinar a manter os dois lados de uma associação bidirecional sincronizados em memória.
EXPLICAÇÃO ORAL (60-90s): Percorra o triângulo Aluno–Matrícula–Curso. Mostre que matricularEm atualiza tanto a coleção do aluno quanto a do curso, evitando que o modelo em memória fique inconsistente.
ERRO COMUM: Atualizar apenas um lado da associação bidirecional, deixando a coleção do outro objeto desatualizada em memória.
PERGUNTA PARA A TURMA: O que aconteceria se apenas matriculas.add(matricula) fosse chamado, sem curso.registrar(matricula)?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Mostrar como a própria entidade protege seu estado por meio de métodos de domínio.
EXPLICAÇÃO ORAL (60-90s): Explique a condição vagasDisponiveis &gt; 0 antes de decrementar. Se a exceção for lançada, ela interrompe a unidade de trabalho e o service, do slide anterior, aciona o rollback.
ERRO COMUM: Decrementar vagasDisponiveis diretamente por um setter público, sem validar a regra de negócio.
PERGUNTA PARA A TURMA: O que aconteceria se vagasDisponiveis-- fosse feito sem a validação anterior?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Apresentar AttributeConverter como ponte entre um tipo Java e o tipo real da coluna.
EXPLICAÇÃO ORAL (60-90s): Mostre o fluxo LocalDateTime ⇄ String ⇄ coluna TEXT. Enfatize que os dois métodos do conversor precisam ser inversos um do outro e tratar null explicitamente.
ERRO COMUM: Escrever um conversor que não trata o caso null, lançando NullPointerException ao converter.
PERGUNTA PARA A TURMA: O que aconteceria se convertToDatabaseColumn não tratasse o caso valor == null?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Integrar dirty checking e persist na mesma operação de negócio completa.
EXPLICAÇÃO ORAL (60-90s): Mostre os dois fluxos paralelos: 'find Curso → ocupar vaga → UPDATE' via dirty checking, e 'nova Matrícula → persist → INSERT' explícito. Curso e Aluno não precisam de persist porque já vieram gerenciados de find.
ERRO COMUM: Chamar em.persist() também sobre curso e aluno, que já estão gerenciados e não precisam disso.
PERGUNTA PARA A TURMA: Por que persist é chamado apenas para matricula, e não para curso ou aluno?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Diferenciar claramente flush, commit e rollback dentro do ciclo transacional.
EXPLICAÇÃO ORAL (60-90s): Percorra a linha do tempo: memória → flush → SQL pendente → commit ou rollback. Mostre que, mesmo com o SQL já enviado ao banco no flush, uma falha posterior ainda pode desfazer tudo com rollback.
ERRO COMUM: Afirmar que flush confirma a transação, quando na verdade apenas sincroniza o SQL pendente sem torná-lo definitivo.
PERGUNTA PARA A TURMA: Se o SQL já foi enviado ao banco no flush, por que um rollback posterior ainda consegue desfazê-lo?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PEDAGÓGICO: Encerrar a sequência conectando o domínio acadêmico ao laboratório executável da livraria.
EXPLICAÇÃO ORAL (60-90s): Percorra a correspondência conceitual entre Aluno/Curso/Matrícula e Livro/Autor/Venda/Item, e depois a lista de seis competências construídas ao longo da aula. Não copie o código da livraria — apenas trace a ponte conceitual.
ERRO COMUM: Achar que o laboratório da livraria exigirá aprender mecanismos totalmente novos, em vez de aplicar os já vistos.
PERGUNTA PARA A TURMA: Você consegue localizar cada conceito no laboratório da livraria?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em memória desaparecem; dados persistidos permanecem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99032"/>
            <a:ext cx="11274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 é a capacidade de manter dados além da execução atual do programa. Objetos vivem na memória da JVM; registros persistidos continuam disponíveis depois que a aplicação termina.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76856"/>
            <a:ext cx="11274552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41448"/>
            <a:ext cx="108173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alunos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alunos.add(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.out.println(alunos);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Ao encerrar a JVM, a lista deixa de existir.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50208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114800"/>
            <a:ext cx="108173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(nome)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74920"/>
            <a:ext cx="11274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existe na memória do processo.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Encerrar a JVM libera essa memória.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INSERT grava uma linha no banco.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 execução poderá consultar essa linha.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2362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deve sobreviver ao fechamento da aplicação?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relacional organiza dados e identidades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280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Tabela: conjunto de registros do mesmo tipo.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Linha: uma ocorrência armazenada.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Coluna: uma característica do registro.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primária: identifica uma linha de forma única.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estrangeira: referencia uma linha de outra tabela.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428167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2816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4263390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tabela define a estrutura persistente.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89178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917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4873498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distingue cada aluno.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40385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540385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5385562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 exige um valor.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91591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9159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5897626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impede e-mails repetidos.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6885432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99032"/>
            <a:ext cx="642823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(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6885432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822192"/>
            <a:ext cx="642823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id,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nome,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email) {}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resolvem o mesmo problema em níveis diferentes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oferece acesso direto a conexões, SQL e resultados. JPA acrescenta mapeamento de entidades e gerenciamento do estado dos objetos, mas continua usando JDBC internamente.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aluno WHERE id = ?"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=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conexao.prepareStatement(sql);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ps.setLong(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 = ps.executeQuery();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91072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291072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1072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entityManager.find(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compreender o mecanismo; depois compreender a abstração.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padroniza o acesso a bancos relacionais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2094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JDBC: API padrão do Java para comunicação com bancos relacionais.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JDBC: implementação que traduz chamadas Java para um banco específico.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JDBC: endereço que identifica o tipo e a localização do banco.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557778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é o protocolo, sqlite seleciona o driver e faculdade.db identifica o arquivo. O JDBC está no módulo java.sql, mas o driver SQLite é uma dependência externa.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arquivo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"faculdade.db"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"jdbc:sqlite:"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arquivo;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.out.println(url);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jdbc:sqlite:faculdade.db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DriverManager escolhe o driver a partir da URL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DriverManager mantém os drivers JDBC disponíveis e seleciona aquele que reconhece o prefixo da URL. Drivers modernos são descobertos pelo mecanismo Service Provider.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93420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3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91592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URL informa que o banco é SQLite.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4627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4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427984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getConnection procura um driver compatível.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563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056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4038092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retorno é uma Connection aberta.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6844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684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4550156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necessário chamar Class.forName().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"jdbc:sqlite:faculdade.db"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conexao =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DriverManager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.getConnection(url))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"Conectado"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representa uma sessão aberta com o banco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é a sessão usada para criar comandos SQL, controlar transações e consultar metadados. Enquanto estiver aberta, ela mantém recursos externos que precisam ser liberados.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é uma sessão temporária; faculdade.db é o armazenamento persistente. Fechar a Connection não apaga os dados — apenas libera o recurso da sessão.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DriverManager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.getConnection(url))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"Aberta: 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!con.isClosed());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"Driver: 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con.getMetaData().getDriverName());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Aberta: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Driver: SQLite JDBC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try-with-resources garante o fechamento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try-with-resources fecha automaticamente objetos que implementam AutoCloseable, inclusive quando ocorre uma exceção.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68020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8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661920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recurso é declarado entre parênteses.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9031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0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272028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bloco usa a conexão.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023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02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3784092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SQLException segue para o catch.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31444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144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4296156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fechamento ocorre nos dois caminhos.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DriverManager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.getConnection(url))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"Usando a conexão"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.err.println(e.getMessage());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con.close() foi chamado automaticamente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Falhas de conexão devem ser diagnosticadas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falha de conexão acontece antes da execução do SQL. Causas comuns incluem arquivo ausente, URL incorreta, permissão insuficiente e driver não disponível.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SQLite poderia criar silenciosamente um arquivo vazio se o caminho estivesse errado; a validação evita esse erro didático, mostrando uma mensagem de diagnóstico clara em vez de apenas "deu erro".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banco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.of(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"faculdade.db"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.isRegularFile(banco))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IllegalStateException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"Banco não encontrado: 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banco.toAbsolutePath());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 não encontrado: C:\...\faculdade.db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Concatenar valores torna o SQL frágil e inseguro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Concatenar entrada do usuário mistura comando e dado. Isso causa problemas com aspas, tipos e pode permitir SQL Injection.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entradaDoUsuario;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aluno 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"WHERE nome = '"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 +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1072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291072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Prefira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1072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aluno WHERE nome = ?"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=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con.prepareStatement(sql);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ps.setString(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nome);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 SQL permanece fixo; o valor é transmitido separadamente.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PreparedStatement segue preparar, vincular e executar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PreparedStatement representa um comando SQL parametrizado. Os marcadores são preenchidos antes da execução.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42620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26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407920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Preparar: criar o statement com SQL fixo.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3631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36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018028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Vincular: associar 10L ao primeiro marcador.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4642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46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3628136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Executar: usar executeQuery para leitura.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5653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565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4238244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posicionar o ResultSet com next().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aluno WHERE id = ?"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= con.prepareStatement(sql))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ps.setLong(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 = ps.executeQuery())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.out.println(rs.next());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Setters tipados preservam o significado dos valores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método setXxx comunica ao driver o tipo do valor Java. Os índices começam em 1 e seguem a ordem dos marcadores.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marcador → nome, segundo → carga_horaria, terceiro → mensalidade. BigDecimal é a escolha adequada para valores monetários, evitando erros de arredondamento de double.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 (nome, carga_horaria, mensalidade)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(?, ?, ?)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= con.prepareStatement(sql);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ps.setString(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"Algoritmos"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ps.setInt(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ps.setBigDecimal(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BigDecimal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"850.00"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utiliza executeQuery e devolve ResultSet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executeQuery executa comandos que produzem linhas. O retorno é um ResultSet cujo cursor precisa avançar antes da leitura.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82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o SELECT é diferente de posicionar o cursor. Se não houver linha, o bloco do if simplesmente não será executado.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nome FROM aluno WHERE id = ?"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= con.prepareStatement(sql))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ps.setLong(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 = ps.executeQuery())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(rs.next())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.out.println(rs.getString(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Souza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curingas do LIKE pertencem ao valor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realiza busca por padrão. O caractere % representa qualquer sequência; _ representa um único caractere.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407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%Ana% está no parâmetro, não concatenado ao SQL. Ana% começa com Ana; %Ana termina com Ana; %Ana% contém Ana em qualquer posição.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nome FROM aluno WHERE nome LIKE ?"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= con.prepareStatement(sql))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"%Ana%"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 = ps.executeQuery())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(rs.next())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.out.println(rs.getString(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usa executeUpdate e pode devolver a chave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executeUpdate executa INSERT, UPDATE ou DELETE e retorna o número de linhas afetadas. Chaves geradas são consultadas depois da inserção.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ID só existe depois do INSERT. O ResultSet das chaves também precisa ser fechado, por isso outro try-with-resources aninhado.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aluno (nome, email) VALUES (?, ?)"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= con.prepareStatement(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sql,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RETURN_GENERATED_KEYS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ps.setString(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 Souza"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ps.setString(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"ana@faculdade.br"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linhas = ps.executeUpdate();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ids = ps.getGeneratedKeys())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(linhas ==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ids.next())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.out.println(ids.getLong(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 ID: 42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ResultSet é um cursor, não uma lista pronta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ResultSet representa o resultado de uma consulta. Seu cursor começa antes da primeira linha; next() avança e informa se existe uma linha atual.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estados do cursor são: antes da primeira linha, linha atual e fim. Getters só podem ser usados quando o cursor está posicionado em uma linha válida.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 = ps.executeQuery())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existeLinha = rs.next();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(existeLinha)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= rs.getLong(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rs.getString(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.out.println(id +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 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lê uma linha; while percorre todas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por chave primária retornam no máximo uma linha e normalmente usam if. Consultas de listagem podem retornar várias linhas e usam while.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ou uma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(rs.next())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.out.println(rs.getString(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91072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291072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ou várias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1072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(rs.next())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.out.println(rs.getString(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next() move o cursor nos dois casos; a diferença é quantas vezes a condição pode repetir.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Getters JDBC devem ser compatíveis com as colunas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driver converte o valor SQL para o tipo Java solicitado. Ler pelo nome da coluna torna o mapeamento mais explícito e resistente a mudanças de ordem.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Correspondências: INTEGER→long/int, TEXT→String, NUMERIC→BigDecimal. getLong pode devolver 0 para SQL NULL; wasNull() deve ser usado quando essa diferença importar.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= rs.getLong(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rs.getString(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 = rs.getString(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BigDecimal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mensalidade =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rs.getBigDecimal(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"mensalidade"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ativo = rs.getInt(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"ativo"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record pode representar uma linha imutável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é uma forma concisa de declarar um portador imutável de dados. O compilador gera construtor, acessores, equals, hashCode e toString.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é adequado para o modelo JDBC simples desta aula, mas entidades JPA serão classes comuns por causa dos requisitos do provedor e do ciclo de vida.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ativo)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"ana@faculdade.br"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.out.println(aluno.nome());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mapper tem uma única responsabilidade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mapper converte a linha atual do ResultSet em um objeto Java. Ele não abre conexão, não executa SQL e não chama next().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68020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8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661920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cursor já precisa estar posicionado.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9031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0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272028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coluna alimenta um componente.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023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02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3784092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conversão fica reutilizável.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31444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144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4296156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de mapeamento ficam concentradas.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AlunoMapper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mapear(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rs)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rs.getLong(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rs.getString(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rs.getString(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rs.getInt(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"ativo"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 List expressam quantidades diferentes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representa a presença ou ausência de um único resultado. List representa qualquer quantidade de resultados, inclusive zero.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9464"/>
            <a:ext cx="5440680" cy="3035808"/>
          </a:xfrm>
          <a:prstGeom prst="roundRect">
            <a:avLst>
              <a:gd name="adj" fmla="val 241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34056"/>
            <a:ext cx="49834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buscarPorId(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rs.next()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.of(mapper.mapear(rs))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.empty();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57150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Optional.empty()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1072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291072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91072" y="2569464"/>
            <a:ext cx="5440680" cy="3035808"/>
          </a:xfrm>
          <a:prstGeom prst="roundRect">
            <a:avLst>
              <a:gd name="adj" fmla="val 2410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734056"/>
            <a:ext cx="49834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listar()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alunos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(rs.next())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alunos.add(mapper.mapear(rs));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alunos;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91072" y="57150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[]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ausente não é necessariamente um erro. Não retornar null em nenhum dos dois casos.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resume as quatro operações fundamentais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reúne as operações básicas de persistência: Create, Read, Update e Delete. Em um banco relacional, elas correspondem principalmente a INSERT, SELECT, UPDATE e DELETE.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descreve intenções da aplicação, enquanto SQL descreve como o banco realizará essas intenções. A interface não deve expor Connection, PreparedStatement ou ResultSet.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RepositorioAluno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inserir(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aluno);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buscar(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id);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atualizar(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aluno);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excluir(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id); 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isola os detalhes de persistência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DAO, Data Access Object, concentra SQL, conexões, statements e mapeamento. A camada de aplicação passa a conversar com métodos orientados ao domínio.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aplicação não precisa conhecer a URL, o SQL ou o cursor. DAO não significa 'classe com qualquer lógica'; sua responsabilidade é acesso a dados.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AlunoDAO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ConnectionFactory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conexoes;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AlunoMapper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mapper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AlunoMapper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AlunoDAO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ConnectionFactory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conexoes)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.conexoes = conexoes;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AlunoDAO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dao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AlunoDAO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ConnectionFactory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aluno = dao.buscarPorId(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Injeção por construtor torna a dependência explícita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Injeção de dependência significa receber uma colaboração de fora, em vez de criá-la escondida dentro da classe. O construtor torna essa necessidade obrigatória e visível.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AlunoDAO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.conexoes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ConnectionFactory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91072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291072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Preferir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1072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AlunoDAO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ConnectionFactory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conexoes)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.conexoes = conexoes;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visível = classe mais fácil de compreender e testar.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devolve o objeto com a identidade do banco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INSERT, o objeto ainda não possui a identidade gerada pelo banco. Depois da inserção, a chave permite devolver uma representação completa do registro persistido.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entram sem ID; o banco gera o ID; o DAO cria o objeto completo. Os recursos permanecem fechados por try-with-resources em cada nível.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inserir(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nome,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aluno (nome, email) VALUES (?, ?)"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 = conexoes.obter();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= con.prepareStatement(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sql,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RETURN_GENERATED_KEYS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ps.setString(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nome);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ps.setString(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email);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ps.executeUpdate();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ids = ps.getGeneratedKeys())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(ids.next())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(ids.getLong(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nome, email,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 não retornado"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pode devolver um ou vários objetos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assinatura do método deve comunicar a cardinalidade esperada da consulta: Optional para uma busca por chave e List para uma listagem.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métodos públicos expressam intenção, enquanto helpers internos concentram o código repetido de JDBC. O DAO não deve devolver ResultSet à aplicação.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buscarPorId(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buscarUm(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aluno WHERE id = ?"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listarAtivos()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buscarLista(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aluno WHERE ativo = 1 ORDER BY nome"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e DELETE confirmam quantas linhas mudaram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executeUpdate retorna a quantidade de linhas afetadas. Para operações por chave primária, 1 significa sucesso e 0 normalmente significa que o ID não existe.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 entre 'nenhum registro encontrado' e uma SQLException. Zero linhas pode ser um resultado de negócio válido; erro de sintaxe ou conexão é falha técnica.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aluno SET email = ? WHERE id = ?"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= con.prepareStatement(sql))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ps.setString(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"novo@faculdade.br"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ps.setLong(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atualizado = ps.executeUpdate() ==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.out.println(atualizado);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excluido = delete.executeUpdate() ==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matrícula exige mais de uma alteração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operação de negócio frequentemente envolve vários comandos. Matricular um aluno exige inserir a matrícula e reduzir as vagas disponíveis do curso.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934208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3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91592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matrícula: sucesso.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4627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4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427984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vagas: falha.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5833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5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3940048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final: matrícula sem vaga reservada.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TRANSAÇÃO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inserirMatricula(alunoId, cursoId);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esta operação falhar, a matrícula já ficou gravada.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reduzirVagas(cursoId);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Atomicidade significa tudo ou nada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Transação é um conjunto de operações tratado como uma unidade. Commit confirma o conjunto; rollback desfaz as alterações ainda não confirmadas.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68020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8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66192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Desligar confirmação automática.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9227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19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173984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comandos da unidade.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0433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0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3686048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no caminho de sucesso.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1640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1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4198112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em qualquer falha.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con.setAutoCommit(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inserirMatricula(con, alunoId, cursoId);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reduzirVagas(con, cursoId);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con.commit();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con.rollback();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autoCommit confirma cada comando isoladamente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66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padrão, uma Connection costuma iniciar com autoCommit=true. Nesse modo, cada comando concluído é confirmado imediatamente e não pode participar de um rollback posterior com outros comandos.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69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estado original deve ser restaurado quando a conexão puder ser reutilizada. Desligar autoCommit inicia o controle manual; commit encerra a unidade atual com confirmação — são coisas diferentes.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original = con.getAutoCommit();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"Antes: 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original);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con.setAutoCommit(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"Durante: 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con.getAutoCommit());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executar a unidade de trabalho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con.setAutoCommit(original);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Connection delimita a transação JDBC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e rollback afetam os comandos executados na mesma Connection. Abrir outra conexão dentro de um método cria outra fronteira transacional.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métodos auxiliares recebem a mesma conexão. Um erro comum é um método auxiliar chamar DriverManager.getConnection novamente, criando uma segunda fronteira transacional.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matricular(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alunoId,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cursoId)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inserirMatricula(con, alunoId, cursoId);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diminuirVaga(con, cursoId);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diminuirVaga(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cursoId)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 a conexão recebida; não abre outra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confirma a matrícula e a reserva da vaga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torna definitivas todas as alterações pendentes da transação atual. Ele deve ocorrer somente depois que todas as regras e todos os comandos forem concluídos.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Ordem: consultar e validar; inserir a matrícula; atualizar o curso; confirmar. Retornar sucesso antes do commit seria incorreto.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con.setAutoCommit(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vagas = consultarVagas(con, cursoId);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(vagas &lt;=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IllegalStateException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 vagas"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matriculaId = inserirMatricula(con, alunoId, cursoId);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diminuirVaga(con, cursoId);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con.commit();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"Matrícula: 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matriculaId);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confirmado: matrícula criada e vagas reduzidas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restaura o estado anterior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descarta as alterações pendentes da transação. A exceção deve ser preservada ou relançada para que a camada chamadora conheça a causa da falha.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não é tratamento completo do erro; ele recupera o banco, enquanto relançar comunica a falha. O finally restaura a configuração da conexão.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inserirMatricula(con, alunoId, cursoId);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diminuirVaga(con, cursoId);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con.commit();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con.rollback();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con.setAutoCommit(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Savepoint cria um ponto de recuperação parcial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Savepoint marca uma posição dentro da transação. rollback(savepoint) desfaz comandos posteriores ao ponto, enquanto rollback() desfaz toda a transação.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exemplo preserva o cabeçalho e desfaz apenas os itens. Savepoint aumenta a complexidade e deve ser usado quando o rollback parcial fizer sentido para a regra de negócio.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con.setAutoCommit(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registrarCabecalho(con);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ponto = con.setSavepoint(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"antes_dos_itens"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registrarItens(con);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con.rollback(ponto);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con.commit();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mapeia objetos para tabelas relacionais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66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objeto-relacional, ORM, relaciona classes e atributos a tabelas e colunas. O objetivo não é eliminar o banco relacional, mas permitir que parte da persistência seja expressa pelo modelo de objetos.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69920"/>
            <a:ext cx="4160520" cy="82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→ tabela aluno; id → coluna id; nome → coluna nome. O SQL ainda existe e será gerado pelo provedor.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"aluno"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define o contrato; Hibernate o implementa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 Persistence, frequentemente chamada de JPA, define interfaces, anotações e regras. Hibernate é um provedor que implementa essa especificação.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93420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3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915920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importa a API jakarta.persistence.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544316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44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526028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unidade "faculdade" vem do persistence.xml.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54424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154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4136136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Hibernate é escolhido pela configuração.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64532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645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4746244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o provedor não deveria mudar a intenção da aplicação.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jakarta.persistence.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jakarta.persistence.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.createEntityManagerFactory(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"faculdade"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.createEntityManager();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continua usando JDBC para chegar ao banco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adiciona uma camada de abstração. O provedor ainda precisa de driver, URL e dialeto para produzir SQL compatível com o banco.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82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faz a comunicação JDBC; dialeto orienta a geração de SQL e tipos específicos do banco.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&lt;property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"jakarta.persistence.jdbc.driver"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"org.sqlite.JDBC"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&lt;property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"jakarta.persistence.jdbc.url"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"jdbc:sqlite:faculdade.db"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&lt;property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"hibernate.dialect"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="org.hibernate.community.dialect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.SQLiteDialect"/&gt;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persistence.xml descreve a unidade de persistência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persistência agrupa provedor, entidades e propriedades de acesso ao banco. Seu nome é usado para criar a EntityManagerFactory.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RESOURCE_LOCAL deixa begin, commit e rollback sob controle da aplicação Java SE. value="none" protege o esquema existente contra criação ou alteração automática.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&lt;persistence-unit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"faculdade"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transaction-type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"RESOURCE_LOCAL"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&lt;provider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org.hibernate.jpa.HibernatePersistenceProvider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&lt;/provider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&gt;br.edu.exemplo.Aluno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&lt;/class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&lt;properties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&lt;property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"jakarta.persistence.jdbc.url"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"jdbc:sqlite:faculdade.db"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&lt;property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="jakarta.persistence.schema-generation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.database.action"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"none"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&lt;/properties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&lt;/persistence-unit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entidade JPA precisa de identidade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 é uma classe persistente com identidade. @Entity registra a classe; @Id identifica o atributo que representa a chave primária.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permite null enquanto o objeto é novo. IDENTITY indica que o banco produz o valor no INSERT. O construtor sem argumentos é necessário para o provedor e pode ser protected.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"aluno"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(strategy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GenerationType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Anotações de coluna expressam o mapeamento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@Column personaliza nome e restrições da coluna mapeada. As anotações devem refletir o esquema existente e documentar as regras relevantes do modelo.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51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nullable=false, unique=true e name documentam o mapeamento. A anotação não substitui necessariamente a restrição real do banco quando a geração de esquema está desativada; ambas precisam estar coerentes.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(nullable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(nullable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unique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"data_nascimento"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dataNascimento;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EntityManagerFactory é compartilhada; EntityManager é curto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EntityManagerFactory: objeto caro, configurado uma vez e compartilhado pela aplicação.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EntityManager: contexto de persistência usado em uma unidade de trabalho; não é thread-safe.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204972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um-para-muitos entre factory e managers. Fechar o EntityManager termina o contexto atual, enquanto fechar a factory encerra a infraestrutura do provedor.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EntityManagerFactory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emf =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.createEntityManagerFactory(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"faculdade"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 = emf.createEntityManager())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 em.find(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.out.println(aluno.getNome());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emf.close();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JPA passam por estados diferentes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244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ou transiente: existe apenas na memória e não pertence ao contexto.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Gerenciado: é acompanhado pelo EntityManager.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Destacado: possui identidade, mas não é mais acompanhado.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Removido: está agendado para exclusão.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910584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estado não é uma propriedade explícita do objeto; ele descreve a relação entre a instância e o contexto de persistência.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"ana@faculdade.br"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.out.println(aluno.getId());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.out.println(em.contains(aluno));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associa o objeto novo ao contexto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registra uma entidade nova no contexto de persistência. A inserção será sincronizada com o banco dentro de uma transação.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68020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8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66192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cria uma entidade transiente.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92272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19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173984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inicia a transação.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04336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0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3686048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torna a entidade gerenciada.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16400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1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4198112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confirma o INSERT e a identidade fica disponível.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"ana@faculdade.br"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EntityTransaction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tx = em.getTransaction();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tx.begin();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em.persist(aluno);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tx.commit();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.out.println(aluno.getId());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.out.println(em.contains(aluno));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42 | Gerenciado: true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escrita JPA precisa de uma transação segura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unidade RESOURCE_LOCAL, a aplicação controla EntityTransaction. Uma falha deve provocar rollback quando a transação ainda estiver ativa.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isActive() é verificado antes do rollback para evitar chamar rollback numa transação já encerrada. Capturar e ignorar a exceção esconderia o motivo da falha.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EntityTransaction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tx = em.getTransaction();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tx.begin();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em.persist(aluno);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tx.commit();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(tx.isActive())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tx.rollback();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busca pela identidade e gerencia o resultado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EntityManager.find recebe o tipo da entidade e a chave primária. Quando encontra uma linha, devolve uma entidade gerenciada; quando não encontra, devolve null.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51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contexto de persistência funciona como mapa de identidades: dentro do mesmo contexto, a mesma linha corresponde à mesma instância gerenciada. Essa afirmação vale para find no mesmo contexto, não para toda consulta.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primeiro = em.find(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segundo = em.find(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ausente = em.find(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.out.println(primeiro == segundo);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.out.println(em.contains(primeiro));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.out.println(ausente);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destaca as entidades do contexto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remove todas as entidades do contexto de persistência sem apagar as linhas do banco. Os objetos continuam existindo, mas deixam de ser acompanhados.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alteração final não produzirá UPDATE automático porque aluno está destacado. Para voltar a trabalhar com estado gerenciado, pode-se fazer novo find ou avaliar merge em outro cenário.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 em.find(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.out.println(em.contains(aluno));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em.clear();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.out.println(em.contains(aluno));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aluno.alterarEmail(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"fora@contexto.br"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checking produz UPDATE sem método update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checking é a detecção automática de mudanças em entidades gerenciadas. Na sincronização, o provedor compara o estado acompanhado e gera o UPDATE necessário.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entityManager.update() na API JPA. O efeito depende de a entidade continuar gerenciada e de a transação confirmar.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EntityTransaction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tx = em.getTransaction();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tx.begin();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 em.find(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aluno.alterarEmail(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"ana.nova@faculdade.br"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tx.commit();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aluno SET email = ? WHERE id =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agenda a exclusão de uma entidade gerenciada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marca uma entidade gerenciada para exclusão. O DELETE é sincronizado e confirmado pela transação.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407920"/>
            <a:ext cx="4160520" cy="151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não aceita naturalmente um objeto destacado como se ainda estivesse no contexto. A busca dentro da unidade de trabalho garante uma instância gerenciada. Após o commit, novo find pelo ID deve devolver null.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EntityTransaction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tx = em.getTransaction();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tx.begin();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 em.find(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(aluno !=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em.remove(aluno);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tx.commit();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chave estrangeira pode virar referência entre objetos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banco, matricula armazena curso_id. No modelo orientado a objetos, a entidade pode guardar uma referência Curso. O JPA converte a referência em chave estrangeira.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cursoId;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91072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291072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1072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"curso_id"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coluna curso_id não desaparece; muda a forma como a aplicação navega pelo modelo.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Cardinalidade define quantos objetos se relacionam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2094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Muitos-para-um: muitas matrículas pertencem a um curso.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Um-para-muitos: um curso possui uma coleção de matrículas.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cardinalidade descreve a regra do domínio, não o tamanho atual da coleção.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557778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atributos representam perspectivas da mesma relação. Isso prepara a distinção entre cardinalidade, lado dono e carregamento, tratada nos próximos slides.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curso;        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muitos → um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matriculas;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um → muitos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ManyToOne mapeia o lado que possui a chave estrangeira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@ManyToOne representa uma referência única compartilhada por muitas entidades. @JoinColumn informa qual coluna guarda a chave estrangeira.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optional=false e nullable=false atuam em camadas diferentes: a associação Java é obrigatória e a coluna do banco não aceita nulo. Este é o lado dono porque contém curso_id.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(strategy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GenerationType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(fetch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FetchType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optional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"curso_id"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nullable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OneToMany expõe a navegação inversa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@OneToMany representa uma coleção de entidades associadas. Quando mappedBy é usado, a associação é controlada pelo atributo indicado na outra entidade.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mappedBy="curso" aponta para o atributo Matricula.curso, não para a coluna curso_id. Nenhuma tabela intermediária é necessária para esse relacionamento um-para-muitos.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(mappedBy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fetch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FetchType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matriculas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Lado dono e lado inverso descrevem a mesma relação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lado dono é aquele cujo mapeamento controla a chave estrangeira. O lado inverso usa mappedBy para declarar que a coluna é controlada do outro lado.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Lado dono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contém a FK curso_id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"curso_id"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91072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291072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Lado inverso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1072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aponta para Matricula.curso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(mappedBy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matriculas;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"Lado dono" não significa "lado um" nem "objeto mais importante"; significa responsabilidade pelo vínculo persistente.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adia a consulta até o primeiro uso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Carregamento lazy representa uma associação ainda não inicializada. O primeiro acesso que exige os dados pode disparar um SELECT adicional.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82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SELECT adicional ocorre no primeiro uso real da coleção, não necessariamente no simples retorno do getter.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 = em.find(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antes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.getPersistenceUtil()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.isLoaded(curso,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"matriculas"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quantidade = curso.getMatriculas().size();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depois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.getPersistenceUtil()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.isLoaded(curso,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"matriculas"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46320" y="5532120"/>
            <a:ext cx="6885432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55321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=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 = 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depois = true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precisa de um contexto aberto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associação não inicializada depende do contexto de persistência para buscar seus dados. Se o EntityManager já estiver fechado, o acesso pode falhar.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Incorreto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 =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emf.createEntityManager())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 = em.find(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curso.getMatriculas().size();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pode falhar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91072" y="192938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291072" y="19293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1072" y="2569464"/>
            <a:ext cx="5440680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34056"/>
            <a:ext cx="49834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 =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emf.createEntityManager())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 = em.find(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curso.getMatriculas().size();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.out.println(n);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Serializar entidades com associações lazy exige planejamento adicional.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service define a unidade de trabalho JPA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operação de negócio coordena entidades, regras e persistência dentro de um único EntityManager e de uma única EntityTransaction.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service controla a fronteira transacional; as entidades preservam as regras do próprio estado; o EntityManager realiza a persistência.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matricular(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alunoId,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cursoId)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 = emf.createEntityManager())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EntityTransaction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tx = em.getTransaction();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tx.begin();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executarMatricula(em, alunoId, cursoId);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tx.commit();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RuntimeException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(tx.isActive()) tx.rollback();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 conecta Aluno e Curso como entidade própria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relacionamento possui dados próprios, como data e situação, ele pode ser modelado como uma entidade. Matricula possui identidade e duas associações muitos-para-um.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 não é apenas uma tabela intermediária: ela representa um fato do domínio e pode receber novos atributos no futuro.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(strategy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GenerationType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(optional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@ManyToOne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(optional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LocalDateTime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dataHora;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propaga persistência para objetos dependentes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66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define quais operações realizadas na entidade principal devem alcançar entidades associadas. PERSIST propaga apenas a inserção; ALL inclui persistência, merge, remoção e outras operações.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69920"/>
            <a:ext cx="4160520" cy="128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já está gerenciado e não é inserido novamente. O cascade parte do novo Aluno e alcança somente a nova Matricula. Cascade deve ser escolhido conforme o ciclo de vida; não usar ALL por hábito.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(mappedBy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"aluno"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cascade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CascadeType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matriculas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novo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"ana@faculdade.br"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 = em.find(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novo.matricularEm(curso);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em.persist(novo);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persiste Aluno e a nova Matricula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domínio mantêm os dois lados coerentes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associação bidirecional, o modelo em memória possui dois atributos que representam o mesmo vínculo. Um método de domínio deve atualizar os dois lados.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93420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3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915920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a matrícula com as duas referências.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544316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443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526028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à coleção do aluno atual.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56380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056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4038092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 mesma matrícula na coleção do curso.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648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666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4648200"/>
            <a:ext cx="3758184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Devolver o objeto para uso pelo service.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matricularEm(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matricula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curso);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matriculas.add(matricula);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curso.registrar(matricula);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matricula;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 devem proteger o estado da entidade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15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entidade deve impedir mudanças que produzam um estado inválido. A regra de vagas pertence a Curso porque depende do seu estado atual.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661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validação ocorre antes da alteração e impede valor negativo. A exceção interrompe a unidade de trabalho e leva o service ao rollback.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ocuparVaga()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(vagasDisponiveis &lt;=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IllegalStateException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"Curso sem vagas"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vagasDisponiveis--;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AttributeConverter adapta um tipo Java à coluna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AttributeConverter define a conversão entre um tipo do modelo Java e o tipo armazenado no banco. É útil quando o banco ou o driver não representa o tipo da forma desejada.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82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LocalDateTime ⇄ SQLite TEXT em formato ISO-8601. O conversor precisa ser reversível e tratar null.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@Converter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DataHoraConverter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AttributeConverter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LocalDateTime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convertToDatabaseColumn(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LocalDateTime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 ==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valor.toString();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LocalDateTime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convertToEntityAttribute(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 ==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LocalDateTime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.parse(valor);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@Convert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(converter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DataHoraConverter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LocalDateTime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dataHora;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 gerenciada sincroniza a regra por dirty checking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40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entidade obtida por find já está gerenciada. Alterar seu estado por um método de domínio é suficiente para o Hibernate gerar o UPDATE na sincronização.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915920"/>
            <a:ext cx="4160520" cy="105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é necessário para a matrícula nova, mas não para Curso ou Aluno, que vieram de find. O UPDATE de vagas resulta do dirty checking.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tx.begin();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 = em.find(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cursoId);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 em.find(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alunoId);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curso.ocuparVaga();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matricula = curso.adicionarAluno(aluno);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em.persist(matricula);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tx.commit();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flush envia SQL; commit confirma; rollback desfaz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60520" cy="186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flush: sincroniza o contexto com o banco, mas não confirma a transação.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commit: confirma a transação e torna as alterações definitivas.</a:t>
            </a:r>
            <a:endParaRPr lang="en-US" sz="1500" dirty="0"/>
          </a:p>
          <a:p>
            <a:pPr marL="177800" indent="-1778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rollback: desfaz as alterações ainda pertencentes à transação.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332988"/>
            <a:ext cx="4160520" cy="82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SQL pode aparecer no console durante o flush e ainda assim ser desfeito. flush não é substituto do commit.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6885432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399032"/>
            <a:ext cx="6428232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tx.begin();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executarMatricula(em, alunoId, cursoId);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em.flush();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(simularFalha)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IllegalStateException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"Falha após flush"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tx.commit();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RuntimeException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(tx.isActive()) tx.rollback();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laboratório aplica os conceitos a um domínio maior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41832"/>
            <a:ext cx="11274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slides ensinaram cada mecanismo em um modelo pequeno. As nove paradas do laboratório mostram como combinar os mesmos mecanismos em uma aplicação de livraria.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19656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84248"/>
            <a:ext cx="498348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 = emf.createEntityManager())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EntityTransaction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tx = em.getTransaction();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tx.begin();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 = em.find(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1L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curso.ocuparVaga();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tx.commit();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133088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/ Curso / Matrícula → exemplo dos slides.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Livro / Autor / Venda / Item → laboratório.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disponíveis → regra equivalente ao controle de estoque.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 atômica → regra equivalente ao registro de uma venda.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91072" y="1819656"/>
            <a:ext cx="54406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Abrir e fechar conexões.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Executar SQL parametrizado.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Mapear linhas e organizar DAO.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Controlar transações JDBC.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Mapear entidades e relacionamentos JPA.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Entender persist, dirty checking, cascade, flush, commit e rollback.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2362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consegue localizar cada conceito no laboratório da livraria?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 JPA | Graduação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 e JPA — Introdução prática com Hibernate</dc:title>
  <dc:subject>PptxGenJS Presentation</dc:subject>
  <dc:creator>Bruno</dc:creator>
  <cp:lastModifiedBy>Bruno</cp:lastModifiedBy>
  <cp:revision>1</cp:revision>
  <dcterms:created xsi:type="dcterms:W3CDTF">2026-08-20T02:12:15Z</dcterms:created>
  <dcterms:modified xsi:type="dcterms:W3CDTF">2026-08-20T02:12:15Z</dcterms:modified>
</cp:coreProperties>
</file>